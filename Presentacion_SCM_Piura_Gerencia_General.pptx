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Sistema SCM Piura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Plataforma de control operativo para padron, lecturas, trazabilidad y regularizacion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  <a:latin typeface="Calibri"/>
              </a:defRPr>
            </a:pPr>
            <a:r>
              <a:t>Presentacion tecnico-gerencial para Gerencia General.</a:t>
            </a:r>
          </a:p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  <a:latin typeface="Calibri"/>
              </a:defRPr>
            </a:pPr>
            <a:r>
              <a:t>Desarrollo orientado al control integral del proceso operativo mensual.</a:t>
            </a:r>
          </a:p>
          <a:p>
            <a:pPr>
              <a:spcAft>
                <a:spcPts val="800"/>
              </a:spcAft>
              <a:defRPr sz="1800">
                <a:solidFill>
                  <a:srgbClr val="243447"/>
                </a:solidFill>
                <a:latin typeface="Calibri"/>
              </a:defRPr>
            </a:pPr>
            <a:r>
              <a:t>Corte de ejemplo mostrado en la interfaz: periodo 2026-04.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74320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01: Ingreso al sistema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Uso: portada o slide inicial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solucion integra padrón, lectura, regularizacion y control en una sola plataforma.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Situacion inicial y oportunidad de mejora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Problemas operativos que el desarrollo viene resolviendo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Procesos distribuidos entre archivos, formatos y revisiones manuales.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Baja visibilidad del avance real por periodo, suministro y cuadrilla.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Mayor riesgo de errores por duplicidad, digitacion y cruce de fuentes.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Tratamiento poco estandarizado de excepciones y lecturas incompletas.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Impacto operativo previo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Duplicidad de informacion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Regularizacion tardia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Poca trazabilidad documental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Dificultad para seguimiento gerencial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El proyecto ataca tanto el registro de lecturas como el control integral de la operacion.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Arquitectura funcional de la solucion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Vista end-to-end del flujo operativo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417320" cy="749808"/>
          </a:xfrm>
          <a:prstGeom prst="roundRect">
            <a:avLst/>
          </a:prstGeom>
          <a:solidFill>
            <a:srgbClr val="EFF4F8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Login y acceso</a:t>
            </a:r>
          </a:p>
        </p:txBody>
      </p:sp>
      <p:sp>
        <p:nvSpPr>
          <p:cNvPr id="5" name="Chevron 4"/>
          <p:cNvSpPr/>
          <p:nvPr/>
        </p:nvSpPr>
        <p:spPr>
          <a:xfrm>
            <a:off x="2084832" y="2066543"/>
            <a:ext cx="274320" cy="25603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4600" y="1828800"/>
            <a:ext cx="1417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Carga de padron</a:t>
            </a:r>
          </a:p>
        </p:txBody>
      </p:sp>
      <p:sp>
        <p:nvSpPr>
          <p:cNvPr id="7" name="Chevron 6"/>
          <p:cNvSpPr/>
          <p:nvPr/>
        </p:nvSpPr>
        <p:spPr>
          <a:xfrm>
            <a:off x="3959352" y="2066543"/>
            <a:ext cx="274320" cy="25603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1417320" cy="749808"/>
          </a:xfrm>
          <a:prstGeom prst="roundRect">
            <a:avLst/>
          </a:prstGeom>
          <a:solidFill>
            <a:srgbClr val="EFF4F8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Panel de control</a:t>
            </a:r>
          </a:p>
        </p:txBody>
      </p:sp>
      <p:sp>
        <p:nvSpPr>
          <p:cNvPr id="9" name="Chevron 8"/>
          <p:cNvSpPr/>
          <p:nvPr/>
        </p:nvSpPr>
        <p:spPr>
          <a:xfrm>
            <a:off x="5833872" y="2066543"/>
            <a:ext cx="274320" cy="25603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1417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Procesar lecturas</a:t>
            </a:r>
          </a:p>
        </p:txBody>
      </p:sp>
      <p:sp>
        <p:nvSpPr>
          <p:cNvPr id="11" name="Chevron 10"/>
          <p:cNvSpPr/>
          <p:nvPr/>
        </p:nvSpPr>
        <p:spPr>
          <a:xfrm>
            <a:off x="7708392" y="2066543"/>
            <a:ext cx="274320" cy="25603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1417320" cy="749808"/>
          </a:xfrm>
          <a:prstGeom prst="roundRect">
            <a:avLst/>
          </a:prstGeom>
          <a:solidFill>
            <a:srgbClr val="EFF4F8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Carga manual</a:t>
            </a:r>
          </a:p>
        </p:txBody>
      </p:sp>
      <p:sp>
        <p:nvSpPr>
          <p:cNvPr id="13" name="Chevron 12"/>
          <p:cNvSpPr/>
          <p:nvPr/>
        </p:nvSpPr>
        <p:spPr>
          <a:xfrm>
            <a:off x="9582912" y="2066543"/>
            <a:ext cx="274320" cy="256032"/>
          </a:xfrm>
          <a:prstGeom prst="chevron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12680" y="1828800"/>
            <a:ext cx="1417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76E"/>
                </a:solidFill>
              </a:rPr>
              <a:t>Exportacion y 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Unifica acceso, padron, lectura automatica, carga manual y exportacion.</a:t>
            </a:r>
          </a:p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Permite trazabilidad por periodo, cuadrilla, suministro, estado y origen.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508760"/>
            <a:ext cx="4480560" cy="228600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Capturas para esta slide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02: Header y navegacion principal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03: Selector de periodo y buscador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solucion organiza el proceso de extremo a extremo dentro de un solo flujo operativo.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Panel de control y seguimiento gerencial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Control en tiempo real del estado del periodo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627589"/>
                </a:solidFill>
              </a:rPr>
              <a:t>TOTAL DEL PERIODO</a:t>
            </a:r>
          </a:p>
          <a:p>
            <a:r>
              <a:rPr sz="2400" b="1">
                <a:solidFill>
                  <a:srgbClr val="0F376E"/>
                </a:solidFill>
              </a:rPr>
              <a:t>1109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50876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627589"/>
                </a:solidFill>
              </a:rPr>
              <a:t>PENDIENTES</a:t>
            </a:r>
          </a:p>
          <a:p>
            <a:r>
              <a:rPr sz="2400" b="1">
                <a:solidFill>
                  <a:srgbClr val="D9882B"/>
                </a:solidFill>
              </a:rPr>
              <a:t>290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50876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627589"/>
                </a:solidFill>
              </a:rPr>
              <a:t>LEIDOS SIN PARAMETROS</a:t>
            </a:r>
          </a:p>
          <a:p>
            <a:r>
              <a:rPr sz="2400" b="1">
                <a:solidFill>
                  <a:srgbClr val="627589"/>
                </a:solidFill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50876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627589"/>
                </a:solidFill>
              </a:rPr>
              <a:t>REALIZADOS</a:t>
            </a:r>
          </a:p>
          <a:p>
            <a:r>
              <a:rPr sz="2400" b="1">
                <a:solidFill>
                  <a:srgbClr val="198754"/>
                </a:solidFill>
              </a:rPr>
              <a:t>819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715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Consulta por periodo y busqueda por suministro.</a:t>
            </a:r>
          </a:p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Filtros por estado para priorizacion operativa.</a:t>
            </a:r>
          </a:p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Listado navegable con acceso directo al detalle del suministro.</a:t>
            </a:r>
          </a:p>
          <a:p>
            <a:pPr>
              <a:spcAft>
                <a:spcPts val="800"/>
              </a:spcAft>
              <a:defRPr sz="1600">
                <a:solidFill>
                  <a:srgbClr val="243447"/>
                </a:solidFill>
                <a:latin typeface="Calibri"/>
              </a:defRPr>
            </a:pPr>
            <a:r>
              <a:t>Exportacion del padron operativo a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743200"/>
            <a:ext cx="4480560" cy="210312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04: KPI del periodo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05: Listado del padron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Gerencia puede visualizar volumen, avance y excepciones del periodo desde una sola pantalla.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Gestion del padron ENOSA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Base maestra que ordena la operacion mensual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Carga de padron por periodo con validacion de duplicados.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Deteccion y control del periodo aplicable.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Borrado controlado por mes con confirmacion operativa.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Conservacion de estructura maestra para toda la trazabilidad posterior.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07: Modulo Cargar padron ENOSA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El padron deja de ser un archivo aislado y se convierte en la base controlada del proceso.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Procesamiento de lecturas por cuadrilla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Automatizacion del flujo documental y operativo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Procesamiento individual por cuadrilla o ejecucion total.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Control de procesados, omitidos, errores y archivos especiales.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Organizacion de procesados por periodo y cuadrilla.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Descarga de archivos sin parametros para su regularizacion posterior.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08: Modulo Procesar lecturas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operacion de campo pasa a ser medible, trazable y ordenada por equipo de trabajo.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Soporte multi-formato y tratamiento de excepciones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Adaptacion a la realidad tecnica de los equipos y archivos recibidos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7543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65960"/>
                <a:gridCol w="2423160"/>
                <a:gridCol w="173736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376E"/>
                          </a:solidFill>
                        </a:rPr>
                        <a:t>Formato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376E"/>
                          </a:solidFill>
                        </a:rPr>
                        <a:t>Tratamiento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376E"/>
                          </a:solidFill>
                        </a:rPr>
                        <a:t>Resultado operativo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376E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.txt Metcom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Lectura automatica de suministro y OBIS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Parametros actuales y previos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REALIZADO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.RG Alphaset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Extraccion de 12 parametros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Instantanea + previa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REALIZADO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.msr / .RP3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Lectura de suministro sin parametros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Consolidacion para regularizacion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447"/>
                          </a:solidFill>
                        </a:rPr>
                        <a:t>LEIDO SIN PARAMETROS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069080"/>
            <a:ext cx="7132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  <a:latin typeface="Calibri"/>
              </a:defRPr>
            </a:pPr>
            <a:r>
              <a:t>Se normaliza el suministro incluso con variaciones como ceros iniciales.</a:t>
            </a:r>
          </a:p>
          <a:p>
            <a:pPr>
              <a:spcAft>
                <a:spcPts val="800"/>
              </a:spcAft>
              <a:defRPr sz="1500">
                <a:solidFill>
                  <a:srgbClr val="243447"/>
                </a:solidFill>
                <a:latin typeface="Calibri"/>
              </a:defRPr>
            </a:pPr>
            <a:r>
              <a:t>Se diferencia lectura completa versus lectura sin parametros para no perder trazabilidad.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El sistema absorbe formatos heterogeneos sin romper el control operativo.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Detalle de suministro y trazabilidad puntual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Consulta operativa de cada caso en el periodo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Vista compacta de parametros, estado, origen, observacion y contexto del suministro.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Separacion entre lectura previa e instantanea cuando aplica.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Revision puntual para soporte operativo, validacion y auditoria.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06: Detalle del suministro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Cada suministro puede revisarse de forma individual con contexto suficiente para tomar accion.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Carga manual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Ruta formal para regularizacion caso por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Busqueda de pendientes por periodo y suministro.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Registro individual de parametros y observacion.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Cambio de estado y trazabilidad inmediata del caso.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Soporte para correccion operativa sin salir de la plataforma.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09: Ingreso de carga manual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12: Registrar carga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Las excepciones no detienen el cierre: cuentan con un flujo de regularizacion controlado.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Carga masiva por plantilla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Escalabilidad para regularizacion de volumen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Descarga de plantilla segun filtro y pendientes del periodo.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Subida de Excel con validaciones por suministro y periodo.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Registro masivo de parametros desde plataforma.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Uso del valor visible del Excel para evitar distorsiones de precision.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10: Carga masiva por plantilla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11: Pendientes del periodo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plataforma combina control individual y capacidad de carga masiva sin perder trazabilidad.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Control de origen: TELEMETRIA vs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Clasificacion operativa y capacidad de correccion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La carga masiva por plantilla clasifica automaticamente como TELEMETRIA.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Los demas casos del periodo pueden quedar clasificados como CAMPO.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El origen puede corregirse directamente desde la plataforma con edicion controlada.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La misma vista permite ajustar parametros y observacion cuando se requiere.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Evidencia visual sugerida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Captura 06: Detalle del suministro con icono de edicion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No solo se registra informacion: tambien se clasifica, corrige y formaliza el origen de cada lectura.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Exportacion, consolidacion y evidencia documental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Cierre operativo con salida util para 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Exportacion del padron a Excel con criterios de negocio y ordenamiento de conceptos.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Llenado de LecturaO con la carga disponible.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ZIP por cuadrilla para archivos .msr y .RP3 con indice y plantilla de regularizacion.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Conservacion estructurada de procesados por periodo y cuadrilla.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Salida operativa esperada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Excel del padron consolidado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ZIP por cuadrilla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Indice para regularizacion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Trazabilidad documental en Drive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solucion no termina en la captura: genera salidas utiles para control, cierre y evidencia.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Beneficios gerenciales y KPIs sugeridos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Valor esperado para Gerencia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Mayor visibilidad del avance del periodo y del estado real de la operacion.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Menor dependencia de cruces manuales dispersos.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Mayor trazabilidad por suministro, archivo, cuadrilla y origen.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Mejor capacidad de regularizacion y seguimiento de excepciones.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KPIs recomendados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% realizado por periodo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% pendientes por periodo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% TELEMETRIA vs CAMPO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% leidos sin parametros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Tiempo de cierre por cuadrilla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Numero de correcciones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El sistema crea una base medible para gestionar productividad, excepciones y cierre operativo.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76E"/>
                </a:solidFill>
                <a:latin typeface="Calibri"/>
              </a:rPr>
              <a:t>Proximos pasos recomendados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27589"/>
                </a:solidFill>
                <a:latin typeface="Calibri"/>
              </a:rPr>
              <a:t>Ruta sugerida para consolidacion y escalamiento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715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Formalizar rutina de seguimiento semanal por periodo y cuadrilla.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Definir tablero gerencial de KPIs de cierre.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Consolidar version estable para uso operativo continuo.</a:t>
            </a:r>
          </a:p>
          <a:p>
            <a:pPr>
              <a:spcAft>
                <a:spcPts val="800"/>
              </a:spcAft>
              <a:defRPr sz="1700">
                <a:solidFill>
                  <a:srgbClr val="243447"/>
                </a:solidFill>
                <a:latin typeface="Calibri"/>
              </a:defRPr>
            </a:pPr>
            <a:r>
              <a:t>Evaluar integracion futura con reportes historicos y control comparativo mensual.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480560" cy="2880360"/>
          </a:xfrm>
          <a:prstGeom prst="roundRect">
            <a:avLst/>
          </a:prstGeom>
          <a:solidFill>
            <a:srgbClr val="EFF4F8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wrap="square"/>
          <a:lstStyle/>
          <a:p>
            <a:pPr algn="l"/>
            <a:r>
              <a:rPr b="1" sz="1500">
                <a:solidFill>
                  <a:srgbClr val="0F376E"/>
                </a:solidFill>
              </a:rPr>
              <a:t>Propuesta de cierre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Adopcion operativa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Seguimiento gerencial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Mejora continua</a:t>
            </a:r>
          </a:p>
          <a:p>
            <a:pPr>
              <a:spcAft>
                <a:spcPts val="500"/>
              </a:spcAft>
              <a:defRPr sz="1200">
                <a:solidFill>
                  <a:srgbClr val="243447"/>
                </a:solidFill>
              </a:defRPr>
            </a:pPr>
            <a:r>
              <a:t>Escalamiento funcional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650992"/>
            <a:ext cx="5440680" cy="502920"/>
          </a:xfrm>
          <a:prstGeom prst="roundRect">
            <a:avLst/>
          </a:prstGeom>
          <a:solidFill>
            <a:srgbClr val="EFF4F8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200">
                <a:solidFill>
                  <a:srgbClr val="0F376E"/>
                </a:solidFill>
              </a:rPr>
              <a:t>Mensaje clave: </a:t>
            </a:r>
            <a:r>
              <a:rPr sz="1200">
                <a:solidFill>
                  <a:srgbClr val="243447"/>
                </a:solidFill>
              </a:rPr>
              <a:t>La siguiente etapa es institucionalizar el uso del sistema como herramienta de control operativo.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2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27589"/>
                </a:solidFill>
                <a:latin typeface="Calibri"/>
              </a:rPr>
              <a:t>Sistema SCM Piura | Presentacion tecnico-gerencial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37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